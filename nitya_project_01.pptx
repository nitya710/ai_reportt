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f158b9-f62e-a3b5-1747-3670f7a7eb13}">
          <p14:sldIdLst>
            <p14:sldId id="256"/>
          </p14:sldIdLst>
        </p14:section>
        <p14:section name="Solution" id="{e9f926b0-a3dc-83c4-acf4-65a74be82a29}">
          <p14:sldIdLst>
            <p14:sldId id="257"/>
          </p14:sldIdLst>
        </p14:section>
        <p14:section name="AI Pillars" id="{2cf25f9c-961a-d167-eb3e-3e70a29ac84d}">
          <p14:sldIdLst>
            <p14:sldId id="258"/>
            <p14:sldId id="259"/>
            <p14:sldId id="260"/>
            <p14:sldId id="261"/>
          </p14:sldIdLst>
        </p14:section>
        <p14:section name="Automation" id="{c3a85df6-3ba0-b3c6-ca88-2fb2ca8102fa}">
          <p14:sldIdLst>
            <p14:sldId id="262"/>
          </p14:sldIdLst>
        </p14:section>
        <p14:section name="Delivery" id="{3aa411c7-0cf9-9f6c-e674-b70fd285773d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Image 0" descr="/home/claude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868680" cy="79552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Group 10  |  AI in Sustainability &amp; Green Initiatives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lide" descr="Group 10: AI in Sustainability &amp; Green Initiatives. Problem statement, five key business challenges, and presenters Nitiya, Remin, Riti, Ronak, Vasu Dev, Vishal and Dhav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AI-Based Sustainability System</a:t>
            </a:r>
            <a:endParaRPr lang="en-US" sz="3200" dirty="0"/>
          </a:p>
        </p:txBody>
      </p:sp>
      <p:sp>
        <p:nvSpPr>
          <p:cNvPr id="3" name="Objectives strip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" name="Objectives label"/>
          <p:cNvSpPr txBox="1"/>
          <p:nvPr/>
        </p:nvSpPr>
        <p:spPr>
          <a:xfrm>
            <a:off x="777240" y="1371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System objectives</a:t>
            </a:r>
            <a:endParaRPr lang="en-US" sz="1600" dirty="0"/>
          </a:p>
        </p:txBody>
      </p:sp>
      <p:sp>
        <p:nvSpPr>
          <p:cNvPr id="5" name="Objective 1 circle"/>
          <p:cNvSpPr/>
          <p:nvPr/>
        </p:nvSpPr>
        <p:spPr>
          <a:xfrm>
            <a:off x="2377440" y="16733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Objective 1 icon" descr="Objectiv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1740" y="1787652"/>
            <a:ext cx="228600" cy="228600"/>
          </a:xfrm>
          <a:prstGeom prst="rect">
            <a:avLst/>
          </a:prstGeom>
        </p:spPr>
      </p:pic>
      <p:sp>
        <p:nvSpPr>
          <p:cNvPr id="7" name="Objective text 1"/>
          <p:cNvSpPr txBox="1"/>
          <p:nvPr/>
        </p:nvSpPr>
        <p:spPr>
          <a:xfrm>
            <a:off x="2971800" y="13716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Cut energy use and carbon emissions</a:t>
            </a:r>
            <a:endParaRPr lang="en-US" sz="1400" dirty="0"/>
          </a:p>
        </p:txBody>
      </p:sp>
      <p:sp>
        <p:nvSpPr>
          <p:cNvPr id="8" name="Objective 2 circle"/>
          <p:cNvSpPr/>
          <p:nvPr/>
        </p:nvSpPr>
        <p:spPr>
          <a:xfrm>
            <a:off x="5394960" y="16733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Objective 2 icon" descr="Objectiv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60" y="1787652"/>
            <a:ext cx="228600" cy="228600"/>
          </a:xfrm>
          <a:prstGeom prst="rect">
            <a:avLst/>
          </a:prstGeom>
        </p:spPr>
      </p:pic>
      <p:sp>
        <p:nvSpPr>
          <p:cNvPr id="10" name="Objective text 2"/>
          <p:cNvSpPr txBox="1"/>
          <p:nvPr/>
        </p:nvSpPr>
        <p:spPr>
          <a:xfrm>
            <a:off x="5989320" y="13716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Reduce waste and recover materials</a:t>
            </a:r>
            <a:endParaRPr lang="en-US" sz="1400" dirty="0"/>
          </a:p>
        </p:txBody>
      </p:sp>
      <p:sp>
        <p:nvSpPr>
          <p:cNvPr id="11" name="Objective 3 circle"/>
          <p:cNvSpPr/>
          <p:nvPr/>
        </p:nvSpPr>
        <p:spPr>
          <a:xfrm>
            <a:off x="8412480" y="16733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Objective 3 icon" descr="Objectiv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787652"/>
            <a:ext cx="228600" cy="228600"/>
          </a:xfrm>
          <a:prstGeom prst="rect">
            <a:avLst/>
          </a:prstGeom>
        </p:spPr>
      </p:pic>
      <p:sp>
        <p:nvSpPr>
          <p:cNvPr id="13" name="Objective text 3"/>
          <p:cNvSpPr txBox="1"/>
          <p:nvPr/>
        </p:nvSpPr>
        <p:spPr>
          <a:xfrm>
            <a:off x="9006840" y="13716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environmental impact in real time</a:t>
            </a:r>
            <a:endParaRPr lang="en-US" sz="1400" dirty="0"/>
          </a:p>
        </p:txBody>
      </p:sp>
      <p:sp>
        <p:nvSpPr>
          <p:cNvPr id="14" name="Component card 1"/>
          <p:cNvSpPr/>
          <p:nvPr/>
        </p:nvSpPr>
        <p:spPr>
          <a:xfrm>
            <a:off x="548640" y="274320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Component 1 circle"/>
          <p:cNvSpPr/>
          <p:nvPr/>
        </p:nvSpPr>
        <p:spPr>
          <a:xfrm>
            <a:off x="685800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omponent 1 icon" descr="Component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131820"/>
            <a:ext cx="320040" cy="320040"/>
          </a:xfrm>
          <a:prstGeom prst="rect">
            <a:avLst/>
          </a:prstGeom>
        </p:spPr>
      </p:pic>
      <p:sp>
        <p:nvSpPr>
          <p:cNvPr id="17" name="Component title 1"/>
          <p:cNvSpPr txBox="1"/>
          <p:nvPr/>
        </p:nvSpPr>
        <p:spPr>
          <a:xfrm>
            <a:off x="685800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Collection &amp; Integration</a:t>
            </a:r>
            <a:endParaRPr lang="en-US" sz="1500" dirty="0"/>
          </a:p>
        </p:txBody>
      </p:sp>
      <p:sp>
        <p:nvSpPr>
          <p:cNvPr id="18" name="Component text 1"/>
          <p:cNvSpPr txBox="1"/>
          <p:nvPr/>
        </p:nvSpPr>
        <p:spPr>
          <a:xfrm>
            <a:off x="685800" y="44348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Sensors, meters and ERP feed one shared data layer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2450592" y="3108960"/>
            <a:ext cx="338328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0" name="Component card 2"/>
          <p:cNvSpPr/>
          <p:nvPr/>
        </p:nvSpPr>
        <p:spPr>
          <a:xfrm>
            <a:off x="2862072" y="274320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1" name="Component 2 circle"/>
          <p:cNvSpPr/>
          <p:nvPr/>
        </p:nvSpPr>
        <p:spPr>
          <a:xfrm>
            <a:off x="299923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omponent 2 icon" descr="Component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252" y="3131820"/>
            <a:ext cx="320040" cy="320040"/>
          </a:xfrm>
          <a:prstGeom prst="rect">
            <a:avLst/>
          </a:prstGeom>
        </p:spPr>
      </p:pic>
      <p:sp>
        <p:nvSpPr>
          <p:cNvPr id="23" name="Component title 2"/>
          <p:cNvSpPr txBox="1"/>
          <p:nvPr/>
        </p:nvSpPr>
        <p:spPr>
          <a:xfrm>
            <a:off x="2999232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Knowledge Graph</a:t>
            </a:r>
            <a:endParaRPr lang="en-US" sz="1500" dirty="0"/>
          </a:p>
        </p:txBody>
      </p:sp>
      <p:sp>
        <p:nvSpPr>
          <p:cNvPr id="24" name="Component text 2"/>
          <p:cNvSpPr txBox="1"/>
          <p:nvPr/>
        </p:nvSpPr>
        <p:spPr>
          <a:xfrm>
            <a:off x="2999232" y="44348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Links plants, assets and energy flows so AI can reason across them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4764024" y="3108960"/>
            <a:ext cx="338328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6" name="Component card 3"/>
          <p:cNvSpPr/>
          <p:nvPr/>
        </p:nvSpPr>
        <p:spPr>
          <a:xfrm>
            <a:off x="5175504" y="274320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7" name="Component 3 circle"/>
          <p:cNvSpPr/>
          <p:nvPr/>
        </p:nvSpPr>
        <p:spPr>
          <a:xfrm>
            <a:off x="5312664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Component 3 icon" descr="Component 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684" y="3131820"/>
            <a:ext cx="320040" cy="320040"/>
          </a:xfrm>
          <a:prstGeom prst="rect">
            <a:avLst/>
          </a:prstGeom>
        </p:spPr>
      </p:pic>
      <p:sp>
        <p:nvSpPr>
          <p:cNvPr id="29" name="Component title 3"/>
          <p:cNvSpPr txBox="1"/>
          <p:nvPr/>
        </p:nvSpPr>
        <p:spPr>
          <a:xfrm>
            <a:off x="5312664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Rule-Based System</a:t>
            </a:r>
            <a:endParaRPr lang="en-US" sz="1500" dirty="0"/>
          </a:p>
        </p:txBody>
      </p:sp>
      <p:sp>
        <p:nvSpPr>
          <p:cNvPr id="30" name="Component text 3"/>
          <p:cNvSpPr txBox="1"/>
          <p:nvPr/>
        </p:nvSpPr>
        <p:spPr>
          <a:xfrm>
            <a:off x="5312664" y="44348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Encodes emission caps and safe operating limits</a:t>
            </a:r>
            <a:endParaRPr lang="en-US" sz="1400" dirty="0"/>
          </a:p>
        </p:txBody>
      </p:sp>
      <p:sp>
        <p:nvSpPr>
          <p:cNvPr id="31" name="arrow"/>
          <p:cNvSpPr/>
          <p:nvPr/>
        </p:nvSpPr>
        <p:spPr>
          <a:xfrm>
            <a:off x="7077456" y="3108960"/>
            <a:ext cx="338328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Component card 4"/>
          <p:cNvSpPr/>
          <p:nvPr/>
        </p:nvSpPr>
        <p:spPr>
          <a:xfrm>
            <a:off x="7488936" y="274320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3" name="Component 4 circle"/>
          <p:cNvSpPr/>
          <p:nvPr/>
        </p:nvSpPr>
        <p:spPr>
          <a:xfrm>
            <a:off x="7626096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Component 4 icon" descr="Component 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116" y="3131820"/>
            <a:ext cx="320040" cy="320040"/>
          </a:xfrm>
          <a:prstGeom prst="rect">
            <a:avLst/>
          </a:prstGeom>
        </p:spPr>
      </p:pic>
      <p:sp>
        <p:nvSpPr>
          <p:cNvPr id="35" name="Component title 4"/>
          <p:cNvSpPr txBox="1"/>
          <p:nvPr/>
        </p:nvSpPr>
        <p:spPr>
          <a:xfrm>
            <a:off x="7626096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Expert System</a:t>
            </a:r>
            <a:endParaRPr lang="en-US" sz="1500" dirty="0"/>
          </a:p>
        </p:txBody>
      </p:sp>
      <p:sp>
        <p:nvSpPr>
          <p:cNvPr id="36" name="Component text 4"/>
          <p:cNvSpPr txBox="1"/>
          <p:nvPr/>
        </p:nvSpPr>
        <p:spPr>
          <a:xfrm>
            <a:off x="7626096" y="44348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Turns data and rules into corrective recommendations</a:t>
            </a:r>
            <a:endParaRPr lang="en-US" sz="1400" dirty="0"/>
          </a:p>
        </p:txBody>
      </p:sp>
      <p:sp>
        <p:nvSpPr>
          <p:cNvPr id="37" name="arrow"/>
          <p:cNvSpPr/>
          <p:nvPr/>
        </p:nvSpPr>
        <p:spPr>
          <a:xfrm>
            <a:off x="9390888" y="3108960"/>
            <a:ext cx="338328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8" name="Component card 5"/>
          <p:cNvSpPr/>
          <p:nvPr/>
        </p:nvSpPr>
        <p:spPr>
          <a:xfrm>
            <a:off x="9802368" y="2743200"/>
            <a:ext cx="1828800" cy="2926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9" name="Component 5 circle"/>
          <p:cNvSpPr/>
          <p:nvPr/>
        </p:nvSpPr>
        <p:spPr>
          <a:xfrm>
            <a:off x="9939528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Component 5 icon" descr="Component 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9548" y="3131820"/>
            <a:ext cx="320040" cy="320040"/>
          </a:xfrm>
          <a:prstGeom prst="rect">
            <a:avLst/>
          </a:prstGeom>
        </p:spPr>
      </p:pic>
      <p:sp>
        <p:nvSpPr>
          <p:cNvPr id="41" name="Component title 5"/>
          <p:cNvSpPr txBox="1"/>
          <p:nvPr/>
        </p:nvSpPr>
        <p:spPr>
          <a:xfrm>
            <a:off x="9939528" y="3749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Sustainability Dashboard</a:t>
            </a:r>
            <a:endParaRPr lang="en-US" sz="1500" dirty="0"/>
          </a:p>
        </p:txBody>
      </p:sp>
      <p:sp>
        <p:nvSpPr>
          <p:cNvPr id="42" name="Component text 5"/>
          <p:cNvSpPr txBox="1"/>
          <p:nvPr/>
        </p:nvSpPr>
        <p:spPr>
          <a:xfrm>
            <a:off x="9939528" y="44348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live view of energy, waste and emission KPIs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for Energy Optimisation</a:t>
            </a:r>
            <a:endParaRPr lang="en-US" sz="3200" dirty="0"/>
          </a:p>
        </p:txBody>
      </p:sp>
      <p:sp>
        <p:nvSpPr>
          <p:cNvPr id="3" name="ML types strip"/>
          <p:cNvSpPr/>
          <p:nvPr/>
        </p:nvSpPr>
        <p:spPr>
          <a:xfrm>
            <a:off x="548640" y="1371600"/>
            <a:ext cx="7040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L types label box"/>
          <p:cNvSpPr/>
          <p:nvPr/>
        </p:nvSpPr>
        <p:spPr>
          <a:xfrm>
            <a:off x="548640" y="1371600"/>
            <a:ext cx="13258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5" name="ML types label"/>
          <p:cNvSpPr txBox="1"/>
          <p:nvPr/>
        </p:nvSpPr>
        <p:spPr>
          <a:xfrm>
            <a:off x="640080" y="13716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Types of ML models</a:t>
            </a:r>
            <a:endParaRPr lang="en-US" sz="1400" dirty="0"/>
          </a:p>
        </p:txBody>
      </p:sp>
      <p:sp>
        <p:nvSpPr>
          <p:cNvPr id="6" name="ML type 1"/>
          <p:cNvSpPr txBox="1"/>
          <p:nvPr/>
        </p:nvSpPr>
        <p:spPr>
          <a:xfrm>
            <a:off x="205740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Supervised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regression, forecasting</a:t>
            </a:r>
            <a:endParaRPr lang="en-US" sz="1400" dirty="0"/>
          </a:p>
        </p:txBody>
      </p:sp>
      <p:sp>
        <p:nvSpPr>
          <p:cNvPr id="7" name="ML type 2"/>
          <p:cNvSpPr txBox="1"/>
          <p:nvPr/>
        </p:nvSpPr>
        <p:spPr>
          <a:xfrm>
            <a:off x="388620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Unsupervised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clustering, anomalies</a:t>
            </a:r>
            <a:endParaRPr lang="en-US" sz="1400" dirty="0"/>
          </a:p>
        </p:txBody>
      </p:sp>
      <p:sp>
        <p:nvSpPr>
          <p:cNvPr id="8" name="ML type 3"/>
          <p:cNvSpPr txBox="1"/>
          <p:nvPr/>
        </p:nvSpPr>
        <p:spPr>
          <a:xfrm>
            <a:off x="571500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Reinforcement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scheduling, control</a:t>
            </a:r>
            <a:endParaRPr lang="en-US" sz="1400" dirty="0"/>
          </a:p>
        </p:txBody>
      </p:sp>
      <p:sp>
        <p:nvSpPr>
          <p:cNvPr id="9" name="Energy card 1"/>
          <p:cNvSpPr/>
          <p:nvPr/>
        </p:nvSpPr>
        <p:spPr>
          <a:xfrm>
            <a:off x="548640" y="2423160"/>
            <a:ext cx="34290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Energy 1 circle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Energy 1 icon" descr="Energy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720340"/>
            <a:ext cx="228600" cy="228600"/>
          </a:xfrm>
          <a:prstGeom prst="rect">
            <a:avLst/>
          </a:prstGeom>
        </p:spPr>
      </p:pic>
      <p:sp>
        <p:nvSpPr>
          <p:cNvPr id="12" name="Energy title 1"/>
          <p:cNvSpPr txBox="1"/>
          <p:nvPr/>
        </p:nvSpPr>
        <p:spPr>
          <a:xfrm>
            <a:off x="13258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Demand forecasting</a:t>
            </a:r>
            <a:endParaRPr lang="en-US" sz="1600" dirty="0"/>
          </a:p>
        </p:txBody>
      </p:sp>
      <p:sp>
        <p:nvSpPr>
          <p:cNvPr id="13" name="Energy text 1"/>
          <p:cNvSpPr txBox="1"/>
          <p:nvPr/>
        </p:nvSpPr>
        <p:spPr>
          <a:xfrm>
            <a:off x="731520" y="3200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Regression and time-series models predict load by hour, shift and season</a:t>
            </a:r>
            <a:endParaRPr lang="en-US" sz="1400" dirty="0"/>
          </a:p>
        </p:txBody>
      </p:sp>
      <p:sp>
        <p:nvSpPr>
          <p:cNvPr id="14" name="Energy card 2"/>
          <p:cNvSpPr/>
          <p:nvPr/>
        </p:nvSpPr>
        <p:spPr>
          <a:xfrm>
            <a:off x="4160520" y="2423160"/>
            <a:ext cx="34290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5" name="Energy 2 circle"/>
          <p:cNvSpPr/>
          <p:nvPr/>
        </p:nvSpPr>
        <p:spPr>
          <a:xfrm>
            <a:off x="434340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Energy 2 icon" descr="Energy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720340"/>
            <a:ext cx="228600" cy="228600"/>
          </a:xfrm>
          <a:prstGeom prst="rect">
            <a:avLst/>
          </a:prstGeom>
        </p:spPr>
      </p:pic>
      <p:sp>
        <p:nvSpPr>
          <p:cNvPr id="17" name="Energy title 2"/>
          <p:cNvSpPr txBox="1"/>
          <p:nvPr/>
        </p:nvSpPr>
        <p:spPr>
          <a:xfrm>
            <a:off x="49377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Clustering</a:t>
            </a:r>
            <a:endParaRPr lang="en-US" sz="1600" dirty="0"/>
          </a:p>
        </p:txBody>
      </p:sp>
      <p:sp>
        <p:nvSpPr>
          <p:cNvPr id="18" name="Energy text 2"/>
          <p:cNvSpPr txBox="1"/>
          <p:nvPr/>
        </p:nvSpPr>
        <p:spPr>
          <a:xfrm>
            <a:off x="4343400" y="3200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Groups similar machines and sites by consumption pattern to find savings</a:t>
            </a:r>
            <a:endParaRPr lang="en-US" sz="1400" dirty="0"/>
          </a:p>
        </p:txBody>
      </p:sp>
      <p:sp>
        <p:nvSpPr>
          <p:cNvPr id="19" name="Energy card 3"/>
          <p:cNvSpPr/>
          <p:nvPr/>
        </p:nvSpPr>
        <p:spPr>
          <a:xfrm>
            <a:off x="548640" y="4343400"/>
            <a:ext cx="34290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0" name="Energy 3 circle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Energy 3 icon" descr="Energy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640580"/>
            <a:ext cx="228600" cy="228600"/>
          </a:xfrm>
          <a:prstGeom prst="rect">
            <a:avLst/>
          </a:prstGeom>
        </p:spPr>
      </p:pic>
      <p:sp>
        <p:nvSpPr>
          <p:cNvPr id="22" name="Energy title 3"/>
          <p:cNvSpPr txBox="1"/>
          <p:nvPr/>
        </p:nvSpPr>
        <p:spPr>
          <a:xfrm>
            <a:off x="132588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Anomaly detection</a:t>
            </a:r>
            <a:endParaRPr lang="en-US" sz="1600" dirty="0"/>
          </a:p>
        </p:txBody>
      </p:sp>
      <p:sp>
        <p:nvSpPr>
          <p:cNvPr id="23" name="Energy text 3"/>
          <p:cNvSpPr txBox="1"/>
          <p:nvPr/>
        </p:nvSpPr>
        <p:spPr>
          <a:xfrm>
            <a:off x="73152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Flags unusual spikes caused by leaks, idle running or faulty equipment</a:t>
            </a:r>
            <a:endParaRPr lang="en-US" sz="1400" dirty="0"/>
          </a:p>
        </p:txBody>
      </p:sp>
      <p:sp>
        <p:nvSpPr>
          <p:cNvPr id="24" name="Energy card 4"/>
          <p:cNvSpPr/>
          <p:nvPr/>
        </p:nvSpPr>
        <p:spPr>
          <a:xfrm>
            <a:off x="4160520" y="4343400"/>
            <a:ext cx="34290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5" name="Energy 4 circle"/>
          <p:cNvSpPr/>
          <p:nvPr/>
        </p:nvSpPr>
        <p:spPr>
          <a:xfrm>
            <a:off x="4343400" y="4526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Energy 4 icon" descr="Energy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4640580"/>
            <a:ext cx="228600" cy="228600"/>
          </a:xfrm>
          <a:prstGeom prst="rect">
            <a:avLst/>
          </a:prstGeom>
        </p:spPr>
      </p:pic>
      <p:sp>
        <p:nvSpPr>
          <p:cNvPr id="27" name="Energy title 4"/>
          <p:cNvSpPr txBox="1"/>
          <p:nvPr/>
        </p:nvSpPr>
        <p:spPr>
          <a:xfrm>
            <a:off x="493776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AI-based scheduling</a:t>
            </a:r>
            <a:endParaRPr lang="en-US" sz="1600" dirty="0"/>
          </a:p>
        </p:txBody>
      </p:sp>
      <p:sp>
        <p:nvSpPr>
          <p:cNvPr id="28" name="Energy text 4"/>
          <p:cNvSpPr txBox="1"/>
          <p:nvPr/>
        </p:nvSpPr>
        <p:spPr>
          <a:xfrm>
            <a:off x="434340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Moves flexible loads to low-tariff or renewable-rich hours</a:t>
            </a:r>
            <a:endParaRPr lang="en-US" sz="1400" dirty="0"/>
          </a:p>
        </p:txBody>
      </p:sp>
      <p:sp>
        <p:nvSpPr>
          <p:cNvPr id="29" name="Google case card"/>
          <p:cNvSpPr/>
          <p:nvPr/>
        </p:nvSpPr>
        <p:spPr>
          <a:xfrm>
            <a:off x="7863840" y="1371600"/>
            <a:ext cx="3776472" cy="4754880"/>
          </a:xfrm>
          <a:prstGeom prst="roundRect">
            <a:avLst>
              <a:gd name="adj" fmla="val 2906"/>
            </a:avLst>
          </a:prstGeom>
          <a:solidFill>
            <a:schemeClr val="tx2"/>
          </a:solidFill>
          <a:ln/>
        </p:spPr>
      </p:sp>
      <p:sp>
        <p:nvSpPr>
          <p:cNvPr id="30" name="Google label"/>
          <p:cNvSpPr txBox="1"/>
          <p:nvPr/>
        </p:nvSpPr>
        <p:spPr>
          <a:xfrm>
            <a:off x="81381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GOOGLE CASE STUDY</a:t>
            </a:r>
            <a:endParaRPr lang="en-US" sz="1200" dirty="0"/>
          </a:p>
        </p:txBody>
      </p:sp>
      <p:sp>
        <p:nvSpPr>
          <p:cNvPr id="31" name="Google stat"/>
          <p:cNvSpPr txBox="1"/>
          <p:nvPr/>
        </p:nvSpPr>
        <p:spPr>
          <a:xfrm>
            <a:off x="8138160" y="2011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Up to 40%</a:t>
            </a:r>
            <a:endParaRPr lang="en-US" sz="4800" dirty="0"/>
          </a:p>
        </p:txBody>
      </p:sp>
      <p:sp>
        <p:nvSpPr>
          <p:cNvPr id="32" name="Google caption"/>
          <p:cNvSpPr txBox="1"/>
          <p:nvPr/>
        </p:nvSpPr>
        <p:spPr>
          <a:xfrm>
            <a:off x="8138160" y="2926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reduction in energy used for data-centre cooling, as reported by Google (2016)</a:t>
            </a:r>
            <a:endParaRPr lang="en-US" sz="1600" dirty="0"/>
          </a:p>
        </p:txBody>
      </p:sp>
      <p:sp>
        <p:nvSpPr>
          <p:cNvPr id="33" name="Google takeaway"/>
          <p:cNvSpPr txBox="1"/>
          <p:nvPr/>
        </p:nvSpPr>
        <p:spPr>
          <a:xfrm>
            <a:off x="8138160" y="40233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DeepMind's ML system forecast load and tuned cooling in Google data centres. The same forecast-then-control idea applies to HVAC, compressors and process heat in industrial plants.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Search Algorithms for Sustainable Planning</a:t>
            </a:r>
            <a:endParaRPr lang="en-US" sz="3200" dirty="0"/>
          </a:p>
        </p:txBody>
      </p:sp>
      <p:sp>
        <p:nvSpPr>
          <p:cNvPr id="3" name="Algo label box 1"/>
          <p:cNvSpPr/>
          <p:nvPr/>
        </p:nvSpPr>
        <p:spPr>
          <a:xfrm>
            <a:off x="548640" y="1463040"/>
            <a:ext cx="1737360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Algo name 1"/>
          <p:cNvSpPr txBox="1"/>
          <p:nvPr/>
        </p:nvSpPr>
        <p:spPr>
          <a:xfrm>
            <a:off x="640080" y="14630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BFS</a:t>
            </a:r>
            <a:endParaRPr lang="en-US" sz="1600" dirty="0"/>
          </a:p>
        </p:txBody>
      </p:sp>
      <p:sp>
        <p:nvSpPr>
          <p:cNvPr id="5" name="Algo desc box 1"/>
          <p:cNvSpPr/>
          <p:nvPr/>
        </p:nvSpPr>
        <p:spPr>
          <a:xfrm>
            <a:off x="2286000" y="1463040"/>
            <a:ext cx="5029200" cy="8046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Algo desc 1"/>
          <p:cNvSpPr txBox="1"/>
          <p:nvPr/>
        </p:nvSpPr>
        <p:spPr>
          <a:xfrm>
            <a:off x="2468880" y="146304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Explores options level by level and finds the route with the fewest steps</a:t>
            </a:r>
            <a:endParaRPr lang="en-US" sz="1400" dirty="0"/>
          </a:p>
        </p:txBody>
      </p:sp>
      <p:sp>
        <p:nvSpPr>
          <p:cNvPr id="7" name="Algo label box 2"/>
          <p:cNvSpPr/>
          <p:nvPr/>
        </p:nvSpPr>
        <p:spPr>
          <a:xfrm>
            <a:off x="548640" y="2377440"/>
            <a:ext cx="1737360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Algo name 2"/>
          <p:cNvSpPr txBox="1"/>
          <p:nvPr/>
        </p:nvSpPr>
        <p:spPr>
          <a:xfrm>
            <a:off x="640080" y="23774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DFS</a:t>
            </a:r>
            <a:endParaRPr lang="en-US" sz="1600" dirty="0"/>
          </a:p>
        </p:txBody>
      </p:sp>
      <p:sp>
        <p:nvSpPr>
          <p:cNvPr id="9" name="Algo desc box 2"/>
          <p:cNvSpPr/>
          <p:nvPr/>
        </p:nvSpPr>
        <p:spPr>
          <a:xfrm>
            <a:off x="2286000" y="2377440"/>
            <a:ext cx="5029200" cy="8046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Algo desc 2"/>
          <p:cNvSpPr txBox="1"/>
          <p:nvPr/>
        </p:nvSpPr>
        <p:spPr>
          <a:xfrm>
            <a:off x="2468880" y="237744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Goes deep along one path first; useful for tracing a fault or emission source</a:t>
            </a:r>
            <a:endParaRPr lang="en-US" sz="1400" dirty="0"/>
          </a:p>
        </p:txBody>
      </p:sp>
      <p:sp>
        <p:nvSpPr>
          <p:cNvPr id="11" name="Algo label box 3"/>
          <p:cNvSpPr/>
          <p:nvPr/>
        </p:nvSpPr>
        <p:spPr>
          <a:xfrm>
            <a:off x="548640" y="3291840"/>
            <a:ext cx="1737360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Algo name 3"/>
          <p:cNvSpPr txBox="1"/>
          <p:nvPr/>
        </p:nvSpPr>
        <p:spPr>
          <a:xfrm>
            <a:off x="640080" y="32918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Greedy Search</a:t>
            </a:r>
            <a:endParaRPr lang="en-US" sz="1600" dirty="0"/>
          </a:p>
        </p:txBody>
      </p:sp>
      <p:sp>
        <p:nvSpPr>
          <p:cNvPr id="13" name="Algo desc box 3"/>
          <p:cNvSpPr/>
          <p:nvPr/>
        </p:nvSpPr>
        <p:spPr>
          <a:xfrm>
            <a:off x="2286000" y="3291840"/>
            <a:ext cx="5029200" cy="8046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Algo desc 3"/>
          <p:cNvSpPr txBox="1"/>
          <p:nvPr/>
        </p:nvSpPr>
        <p:spPr>
          <a:xfrm>
            <a:off x="2468880" y="329184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Takes the lowest-cost move right now; fast, but can miss the best overall plan</a:t>
            </a:r>
            <a:endParaRPr lang="en-US" sz="1400" dirty="0"/>
          </a:p>
        </p:txBody>
      </p:sp>
      <p:sp>
        <p:nvSpPr>
          <p:cNvPr id="15" name="Algo label box 4"/>
          <p:cNvSpPr/>
          <p:nvPr/>
        </p:nvSpPr>
        <p:spPr>
          <a:xfrm>
            <a:off x="548640" y="4206240"/>
            <a:ext cx="1737360" cy="8046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Algo name 4"/>
          <p:cNvSpPr txBox="1"/>
          <p:nvPr/>
        </p:nvSpPr>
        <p:spPr>
          <a:xfrm>
            <a:off x="640080" y="42062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A* Search</a:t>
            </a:r>
            <a:endParaRPr lang="en-US" sz="1600" dirty="0"/>
          </a:p>
        </p:txBody>
      </p:sp>
      <p:sp>
        <p:nvSpPr>
          <p:cNvPr id="17" name="Algo desc box 4"/>
          <p:cNvSpPr/>
          <p:nvPr/>
        </p:nvSpPr>
        <p:spPr>
          <a:xfrm>
            <a:off x="2286000" y="4206240"/>
            <a:ext cx="5029200" cy="8046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Algo desc 4"/>
          <p:cNvSpPr txBox="1"/>
          <p:nvPr/>
        </p:nvSpPr>
        <p:spPr>
          <a:xfrm>
            <a:off x="2468880" y="420624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cost so far with an estimate to the goal; best for collection routes and schedules</a:t>
            </a:r>
            <a:endParaRPr lang="en-US" sz="1400" dirty="0"/>
          </a:p>
        </p:txBody>
      </p:sp>
      <p:sp>
        <p:nvSpPr>
          <p:cNvPr id="19" name="Algo label box 5"/>
          <p:cNvSpPr/>
          <p:nvPr/>
        </p:nvSpPr>
        <p:spPr>
          <a:xfrm>
            <a:off x="548640" y="5120640"/>
            <a:ext cx="1737360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Algo name 5"/>
          <p:cNvSpPr txBox="1"/>
          <p:nvPr/>
        </p:nvSpPr>
        <p:spPr>
          <a:xfrm>
            <a:off x="640080" y="51206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Adversarial Search</a:t>
            </a:r>
            <a:endParaRPr lang="en-US" sz="1600" dirty="0"/>
          </a:p>
        </p:txBody>
      </p:sp>
      <p:sp>
        <p:nvSpPr>
          <p:cNvPr id="21" name="Algo desc box 5"/>
          <p:cNvSpPr/>
          <p:nvPr/>
        </p:nvSpPr>
        <p:spPr>
          <a:xfrm>
            <a:off x="2286000" y="5120640"/>
            <a:ext cx="5029200" cy="8046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lgo desc 5"/>
          <p:cNvSpPr txBox="1"/>
          <p:nvPr/>
        </p:nvSpPr>
        <p:spPr>
          <a:xfrm>
            <a:off x="2468880" y="5120640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Plans against a changing opponent, such as tariff swings or competing demand</a:t>
            </a:r>
            <a:endParaRPr lang="en-US" sz="1400" dirty="0"/>
          </a:p>
        </p:txBody>
      </p:sp>
      <p:sp>
        <p:nvSpPr>
          <p:cNvPr id="23" name="Applications card"/>
          <p:cNvSpPr/>
          <p:nvPr/>
        </p:nvSpPr>
        <p:spPr>
          <a:xfrm>
            <a:off x="7589520" y="1463040"/>
            <a:ext cx="405079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Applications circle"/>
          <p:cNvSpPr/>
          <p:nvPr/>
        </p:nvSpPr>
        <p:spPr>
          <a:xfrm>
            <a:off x="777240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pplications icon" descr="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0" y="1760220"/>
            <a:ext cx="228600" cy="228600"/>
          </a:xfrm>
          <a:prstGeom prst="rect">
            <a:avLst/>
          </a:prstGeom>
        </p:spPr>
      </p:pic>
      <p:sp>
        <p:nvSpPr>
          <p:cNvPr id="26" name="Applications title"/>
          <p:cNvSpPr txBox="1"/>
          <p:nvPr/>
        </p:nvSpPr>
        <p:spPr>
          <a:xfrm>
            <a:off x="83667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Industrial applications</a:t>
            </a:r>
            <a:endParaRPr lang="en-US" sz="1600" dirty="0"/>
          </a:p>
        </p:txBody>
      </p:sp>
      <p:sp>
        <p:nvSpPr>
          <p:cNvPr id="27" name="Applications list"/>
          <p:cNvSpPr txBox="1"/>
          <p:nvPr/>
        </p:nvSpPr>
        <p:spPr>
          <a:xfrm>
            <a:off x="777240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Waste-collection routing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Energy scheduling across shifts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Maintenance and logistics planning</a:t>
            </a:r>
            <a:endParaRPr lang="en-US" sz="1400" dirty="0"/>
          </a:p>
        </p:txBody>
      </p:sp>
      <p:sp>
        <p:nvSpPr>
          <p:cNvPr id="28" name="Limitations card"/>
          <p:cNvSpPr/>
          <p:nvPr/>
        </p:nvSpPr>
        <p:spPr>
          <a:xfrm>
            <a:off x="7589520" y="3749040"/>
            <a:ext cx="4050792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9" name="Limitations title"/>
          <p:cNvSpPr txBox="1"/>
          <p:nvPr/>
        </p:nvSpPr>
        <p:spPr>
          <a:xfrm>
            <a:off x="781812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30" name="Limitations list"/>
          <p:cNvSpPr txBox="1"/>
          <p:nvPr/>
        </p:nvSpPr>
        <p:spPr>
          <a:xfrm>
            <a:off x="7818120" y="43891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BFS and DFS slow down as the problem grows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Greedy can miss the best overall plan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A* needs a good heuristic and clean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for Waste Reduction &amp; Circular Economy</a:t>
            </a:r>
            <a:endParaRPr lang="en-US" sz="3200" dirty="0"/>
          </a:p>
        </p:txBody>
      </p:sp>
      <p:sp>
        <p:nvSpPr>
          <p:cNvPr id="3" name="Waste card 1"/>
          <p:cNvSpPr/>
          <p:nvPr/>
        </p:nvSpPr>
        <p:spPr>
          <a:xfrm>
            <a:off x="548640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Waste 1 circle"/>
          <p:cNvSpPr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Waste 1 icon" descr="Wast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94510"/>
            <a:ext cx="297180" cy="297180"/>
          </a:xfrm>
          <a:prstGeom prst="rect">
            <a:avLst/>
          </a:prstGeom>
        </p:spPr>
      </p:pic>
      <p:sp>
        <p:nvSpPr>
          <p:cNvPr id="6" name="Waste title 1"/>
          <p:cNvSpPr txBox="1"/>
          <p:nvPr/>
        </p:nvSpPr>
        <p:spPr>
          <a:xfrm>
            <a:off x="73152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CNN waste classification</a:t>
            </a:r>
            <a:endParaRPr lang="en-US" sz="1600" dirty="0"/>
          </a:p>
        </p:txBody>
      </p:sp>
      <p:sp>
        <p:nvSpPr>
          <p:cNvPr id="7" name="Waste text 1"/>
          <p:cNvSpPr txBox="1"/>
          <p:nvPr/>
        </p:nvSpPr>
        <p:spPr>
          <a:xfrm>
            <a:off x="731520" y="3063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Camera feeds are sorted into paper, plastic, metal, organic and e-waste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113532" y="18288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Waste card 2"/>
          <p:cNvSpPr/>
          <p:nvPr/>
        </p:nvSpPr>
        <p:spPr>
          <a:xfrm>
            <a:off x="3392424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Waste 2 circle"/>
          <p:cNvSpPr/>
          <p:nvPr/>
        </p:nvSpPr>
        <p:spPr>
          <a:xfrm>
            <a:off x="3575304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Waste 2 icon" descr="Wast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94" y="1794510"/>
            <a:ext cx="297180" cy="297180"/>
          </a:xfrm>
          <a:prstGeom prst="rect">
            <a:avLst/>
          </a:prstGeom>
        </p:spPr>
      </p:pic>
      <p:sp>
        <p:nvSpPr>
          <p:cNvPr id="12" name="Waste title 2"/>
          <p:cNvSpPr txBox="1"/>
          <p:nvPr/>
        </p:nvSpPr>
        <p:spPr>
          <a:xfrm>
            <a:off x="3575304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Knowledge graph for recovery</a:t>
            </a:r>
            <a:endParaRPr lang="en-US" sz="1600" dirty="0"/>
          </a:p>
        </p:txBody>
      </p:sp>
      <p:sp>
        <p:nvSpPr>
          <p:cNvPr id="13" name="Waste text 2"/>
          <p:cNvSpPr txBox="1"/>
          <p:nvPr/>
        </p:nvSpPr>
        <p:spPr>
          <a:xfrm>
            <a:off x="3575304" y="3063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Maps each material to its best reuse, recycling or recovery route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957316" y="18288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Waste card 3"/>
          <p:cNvSpPr/>
          <p:nvPr/>
        </p:nvSpPr>
        <p:spPr>
          <a:xfrm>
            <a:off x="6236208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6" name="Waste 3 circle"/>
          <p:cNvSpPr/>
          <p:nvPr/>
        </p:nvSpPr>
        <p:spPr>
          <a:xfrm>
            <a:off x="6419088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Waste 3 icon" descr="Wast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78" y="1794510"/>
            <a:ext cx="297180" cy="297180"/>
          </a:xfrm>
          <a:prstGeom prst="rect">
            <a:avLst/>
          </a:prstGeom>
        </p:spPr>
      </p:pic>
      <p:sp>
        <p:nvSpPr>
          <p:cNvPr id="18" name="Waste title 3"/>
          <p:cNvSpPr txBox="1"/>
          <p:nvPr/>
        </p:nvSpPr>
        <p:spPr>
          <a:xfrm>
            <a:off x="6419088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Search-based collection planning</a:t>
            </a:r>
            <a:endParaRPr lang="en-US" sz="1600" dirty="0"/>
          </a:p>
        </p:txBody>
      </p:sp>
      <p:sp>
        <p:nvSpPr>
          <p:cNvPr id="19" name="Waste text 3"/>
          <p:cNvSpPr txBox="1"/>
          <p:nvPr/>
        </p:nvSpPr>
        <p:spPr>
          <a:xfrm>
            <a:off x="6419088" y="3063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A*-style routing finds the cheapest pickup routes and schedules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8801100" y="1828800"/>
            <a:ext cx="27432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Waste card 4"/>
          <p:cNvSpPr/>
          <p:nvPr/>
        </p:nvSpPr>
        <p:spPr>
          <a:xfrm>
            <a:off x="9079992" y="14630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2" name="Waste 4 circle"/>
          <p:cNvSpPr/>
          <p:nvPr/>
        </p:nvSpPr>
        <p:spPr>
          <a:xfrm>
            <a:off x="9262872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Waste 4 icon" descr="Wast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462" y="1794510"/>
            <a:ext cx="297180" cy="297180"/>
          </a:xfrm>
          <a:prstGeom prst="rect">
            <a:avLst/>
          </a:prstGeom>
        </p:spPr>
      </p:pic>
      <p:sp>
        <p:nvSpPr>
          <p:cNvPr id="24" name="Waste title 4"/>
          <p:cNvSpPr txBox="1"/>
          <p:nvPr/>
        </p:nvSpPr>
        <p:spPr>
          <a:xfrm>
            <a:off x="9262872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Automated segregation</a:t>
            </a:r>
            <a:endParaRPr lang="en-US" sz="1600" dirty="0"/>
          </a:p>
        </p:txBody>
      </p:sp>
      <p:sp>
        <p:nvSpPr>
          <p:cNvPr id="25" name="Waste text 4"/>
          <p:cNvSpPr txBox="1"/>
          <p:nvPr/>
        </p:nvSpPr>
        <p:spPr>
          <a:xfrm>
            <a:off x="9262872" y="3063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Conveyors and robotic arms sort waste using the CNN's output</a:t>
            </a:r>
            <a:endParaRPr lang="en-US" sz="1400" dirty="0"/>
          </a:p>
        </p:txBody>
      </p:sp>
      <p:sp>
        <p:nvSpPr>
          <p:cNvPr id="26" name="ITC case band"/>
          <p:cNvSpPr/>
          <p:nvPr/>
        </p:nvSpPr>
        <p:spPr>
          <a:xfrm>
            <a:off x="548640" y="4480560"/>
            <a:ext cx="1109167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27" name="ITC label"/>
          <p:cNvSpPr txBox="1"/>
          <p:nvPr/>
        </p:nvSpPr>
        <p:spPr>
          <a:xfrm>
            <a:off x="8686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ITC CASE STUDY</a:t>
            </a:r>
            <a:endParaRPr lang="en-US" sz="1200" dirty="0"/>
          </a:p>
        </p:txBody>
      </p:sp>
      <p:sp>
        <p:nvSpPr>
          <p:cNvPr id="28" name="ITC heading"/>
          <p:cNvSpPr txBox="1"/>
          <p:nvPr/>
        </p:nvSpPr>
        <p:spPr>
          <a:xfrm>
            <a:off x="868680" y="4956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Well-being Out of Waste (WOW)</a:t>
            </a:r>
            <a:endParaRPr lang="en-US" sz="1800" dirty="0"/>
          </a:p>
        </p:txBody>
      </p:sp>
      <p:sp>
        <p:nvSpPr>
          <p:cNvPr id="29" name="ITC text"/>
          <p:cNvSpPr txBox="1"/>
          <p:nvPr/>
        </p:nvSpPr>
        <p:spPr>
          <a:xfrm>
            <a:off x="868680" y="5394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ITC's WOW programme drives segregation and recycling of solid waste across its operations and communities. AI classification and tracking would make this circular-economy model easier to scale.</a:t>
            </a:r>
            <a:endParaRPr lang="en-US" sz="1400" dirty="0"/>
          </a:p>
        </p:txBody>
      </p:sp>
      <p:sp>
        <p:nvSpPr>
          <p:cNvPr id="30" name="ITC recycle circle"/>
          <p:cNvSpPr/>
          <p:nvPr/>
        </p:nvSpPr>
        <p:spPr>
          <a:xfrm>
            <a:off x="10241280" y="4828032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TC recycle icon" descr="ITC recy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740" y="5079492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for Environmental Impact Monitoring</a:t>
            </a:r>
            <a:endParaRPr lang="en-US" sz="3200" dirty="0"/>
          </a:p>
        </p:txBody>
      </p:sp>
      <p:sp>
        <p:nvSpPr>
          <p:cNvPr id="3" name="Monitor card 1"/>
          <p:cNvSpPr/>
          <p:nvPr/>
        </p:nvSpPr>
        <p:spPr>
          <a:xfrm>
            <a:off x="548640" y="1463040"/>
            <a:ext cx="35661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4" name="Monitor 1 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onitor 1 icon" descr="Monitor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6" name="Monitor title 1"/>
          <p:cNvSpPr txBox="1"/>
          <p:nvPr/>
        </p:nvSpPr>
        <p:spPr>
          <a:xfrm>
            <a:off x="150876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Measure</a:t>
            </a:r>
            <a:endParaRPr lang="en-US" sz="2000" dirty="0"/>
          </a:p>
        </p:txBody>
      </p:sp>
      <p:sp>
        <p:nvSpPr>
          <p:cNvPr id="7" name="Monitor list 1"/>
          <p:cNvSpPr txBox="1"/>
          <p:nvPr/>
        </p:nvSpPr>
        <p:spPr>
          <a:xfrm>
            <a:off x="777240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Carbon footprint calculated from energy, fuel and supply-chain data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Air emissions and water quality tracked through live sensors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4114800" y="2743200"/>
            <a:ext cx="196596" cy="3200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Monitor card 2"/>
          <p:cNvSpPr/>
          <p:nvPr/>
        </p:nvSpPr>
        <p:spPr>
          <a:xfrm>
            <a:off x="4311396" y="1463040"/>
            <a:ext cx="35661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10" name="Monitor 2 circle"/>
          <p:cNvSpPr/>
          <p:nvPr/>
        </p:nvSpPr>
        <p:spPr>
          <a:xfrm>
            <a:off x="4539996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nitor 2 icon" descr="Monitor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783080"/>
            <a:ext cx="274320" cy="274320"/>
          </a:xfrm>
          <a:prstGeom prst="rect">
            <a:avLst/>
          </a:prstGeom>
        </p:spPr>
      </p:pic>
      <p:sp>
        <p:nvSpPr>
          <p:cNvPr id="12" name="Monitor title 2"/>
          <p:cNvSpPr txBox="1"/>
          <p:nvPr/>
        </p:nvSpPr>
        <p:spPr>
          <a:xfrm>
            <a:off x="5271516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Detect</a:t>
            </a:r>
            <a:endParaRPr lang="en-US" sz="2000" dirty="0"/>
          </a:p>
        </p:txBody>
      </p:sp>
      <p:sp>
        <p:nvSpPr>
          <p:cNvPr id="13" name="Monitor list 2"/>
          <p:cNvSpPr txBox="1"/>
          <p:nvPr/>
        </p:nvSpPr>
        <p:spPr>
          <a:xfrm>
            <a:off x="4539996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Rule-based alerts when readings cross legal or internal limits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ML anomaly detection spots drift before a limit is breached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7877556" y="2743200"/>
            <a:ext cx="196596" cy="3200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Monitor card 3"/>
          <p:cNvSpPr/>
          <p:nvPr/>
        </p:nvSpPr>
        <p:spPr>
          <a:xfrm>
            <a:off x="8074152" y="1463040"/>
            <a:ext cx="35661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16" name="Monitor 3 circle"/>
          <p:cNvSpPr/>
          <p:nvPr/>
        </p:nvSpPr>
        <p:spPr>
          <a:xfrm>
            <a:off x="8302752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Monitor 3 icon" descr="Monitor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783080"/>
            <a:ext cx="274320" cy="274320"/>
          </a:xfrm>
          <a:prstGeom prst="rect">
            <a:avLst/>
          </a:prstGeom>
        </p:spPr>
      </p:pic>
      <p:sp>
        <p:nvSpPr>
          <p:cNvPr id="18" name="Monitor title 3"/>
          <p:cNvSpPr txBox="1"/>
          <p:nvPr/>
        </p:nvSpPr>
        <p:spPr>
          <a:xfrm>
            <a:off x="9034272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Act</a:t>
            </a:r>
            <a:endParaRPr lang="en-US" sz="2000" dirty="0"/>
          </a:p>
        </p:txBody>
      </p:sp>
      <p:sp>
        <p:nvSpPr>
          <p:cNvPr id="19" name="Monitor list 3"/>
          <p:cNvSpPr txBox="1"/>
          <p:nvPr/>
        </p:nvSpPr>
        <p:spPr>
          <a:xfrm>
            <a:off x="8302752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Expert system suggests fixes, such as tuning a furnace or servicing a scrubber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recommendation comes with the reason behind it</a:t>
            </a:r>
            <a:endParaRPr lang="en-US" sz="1400" dirty="0"/>
          </a:p>
        </p:txBody>
      </p:sp>
      <p:sp>
        <p:nvSpPr>
          <p:cNvPr id="20" name="Case card 1"/>
          <p:cNvSpPr/>
          <p:nvPr/>
        </p:nvSpPr>
        <p:spPr>
          <a:xfrm>
            <a:off x="548640" y="4526280"/>
            <a:ext cx="5449824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21" name="Case label 1"/>
          <p:cNvSpPr txBox="1"/>
          <p:nvPr/>
        </p:nvSpPr>
        <p:spPr>
          <a:xfrm>
            <a:off x="82296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CASE STUDY: RELIANCE INDUSTRIES</a:t>
            </a:r>
            <a:endParaRPr lang="en-US" sz="1200" dirty="0"/>
          </a:p>
        </p:txBody>
      </p:sp>
      <p:sp>
        <p:nvSpPr>
          <p:cNvPr id="22" name="Case text 1"/>
          <p:cNvSpPr txBox="1"/>
          <p:nvPr/>
        </p:nvSpPr>
        <p:spPr>
          <a:xfrm>
            <a:off x="82296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Has committed to net carbon zero by 2035, backed by large-scale emissions tracking across its refining and new-energy businesses.</a:t>
            </a:r>
            <a:endParaRPr lang="en-US" sz="1400" dirty="0"/>
          </a:p>
        </p:txBody>
      </p:sp>
      <p:sp>
        <p:nvSpPr>
          <p:cNvPr id="23" name="Case card 2"/>
          <p:cNvSpPr/>
          <p:nvPr/>
        </p:nvSpPr>
        <p:spPr>
          <a:xfrm>
            <a:off x="6190488" y="4526280"/>
            <a:ext cx="5449824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24" name="Case label 2"/>
          <p:cNvSpPr txBox="1"/>
          <p:nvPr/>
        </p:nvSpPr>
        <p:spPr>
          <a:xfrm>
            <a:off x="6464808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CASE STUDY: ADANI GROUP</a:t>
            </a:r>
            <a:endParaRPr lang="en-US" sz="1200" dirty="0"/>
          </a:p>
        </p:txBody>
      </p:sp>
      <p:sp>
        <p:nvSpPr>
          <p:cNvPr id="25" name="Case text 2"/>
          <p:cNvSpPr txBox="1"/>
          <p:nvPr/>
        </p:nvSpPr>
        <p:spPr>
          <a:xfrm>
            <a:off x="6464808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Tracks its renewable plants from a central energy network operations centre in Ahmedabad, using analytics to spot underperformance early.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Agentic AI &amp; Intelligent Automation</a:t>
            </a:r>
            <a:endParaRPr lang="en-US" sz="3200" dirty="0"/>
          </a:p>
        </p:txBody>
      </p:sp>
      <p:sp>
        <p:nvSpPr>
          <p:cNvPr id="3" name="Loop card 1"/>
          <p:cNvSpPr/>
          <p:nvPr/>
        </p:nvSpPr>
        <p:spPr>
          <a:xfrm>
            <a:off x="548640" y="1463040"/>
            <a:ext cx="2331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Loop 1 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oop 1 icon" descr="Loo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6" name="Loop title 1"/>
          <p:cNvSpPr txBox="1"/>
          <p:nvPr/>
        </p:nvSpPr>
        <p:spPr>
          <a:xfrm>
            <a:off x="1463040" y="1645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Observe</a:t>
            </a:r>
            <a:endParaRPr lang="en-US" sz="1800" dirty="0"/>
          </a:p>
        </p:txBody>
      </p:sp>
      <p:sp>
        <p:nvSpPr>
          <p:cNvPr id="7" name="Loop text 1"/>
          <p:cNvSpPr txBox="1"/>
          <p:nvPr/>
        </p:nvSpPr>
        <p:spPr>
          <a:xfrm>
            <a:off x="777240" y="24231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live sensor, meter and ERP data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990088" y="2331720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Loop card 2"/>
          <p:cNvSpPr/>
          <p:nvPr/>
        </p:nvSpPr>
        <p:spPr>
          <a:xfrm>
            <a:off x="3465576" y="1463040"/>
            <a:ext cx="2331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Loop 2 circle"/>
          <p:cNvSpPr/>
          <p:nvPr/>
        </p:nvSpPr>
        <p:spPr>
          <a:xfrm>
            <a:off x="3694176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oop 2 icon" descr="Loo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1783080"/>
            <a:ext cx="274320" cy="274320"/>
          </a:xfrm>
          <a:prstGeom prst="rect">
            <a:avLst/>
          </a:prstGeom>
        </p:spPr>
      </p:pic>
      <p:sp>
        <p:nvSpPr>
          <p:cNvPr id="12" name="Loop title 2"/>
          <p:cNvSpPr txBox="1"/>
          <p:nvPr/>
        </p:nvSpPr>
        <p:spPr>
          <a:xfrm>
            <a:off x="4379976" y="1645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Analyse</a:t>
            </a:r>
            <a:endParaRPr lang="en-US" sz="1800" dirty="0"/>
          </a:p>
        </p:txBody>
      </p:sp>
      <p:sp>
        <p:nvSpPr>
          <p:cNvPr id="13" name="Loop text 2"/>
          <p:cNvSpPr txBox="1"/>
          <p:nvPr/>
        </p:nvSpPr>
        <p:spPr>
          <a:xfrm>
            <a:off x="3694176" y="24231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 decision support forecasts demand and flags anomalies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907024" y="2331720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Loop card 3"/>
          <p:cNvSpPr/>
          <p:nvPr/>
        </p:nvSpPr>
        <p:spPr>
          <a:xfrm>
            <a:off x="6382512" y="1463040"/>
            <a:ext cx="2331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Loop 3 circle"/>
          <p:cNvSpPr/>
          <p:nvPr/>
        </p:nvSpPr>
        <p:spPr>
          <a:xfrm>
            <a:off x="6611112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Loop 3 icon" descr="Loo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783080"/>
            <a:ext cx="274320" cy="274320"/>
          </a:xfrm>
          <a:prstGeom prst="rect">
            <a:avLst/>
          </a:prstGeom>
        </p:spPr>
      </p:pic>
      <p:sp>
        <p:nvSpPr>
          <p:cNvPr id="18" name="Loop title 3"/>
          <p:cNvSpPr txBox="1"/>
          <p:nvPr/>
        </p:nvSpPr>
        <p:spPr>
          <a:xfrm>
            <a:off x="7296912" y="1645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Plan</a:t>
            </a:r>
            <a:endParaRPr lang="en-US" sz="1800" dirty="0"/>
          </a:p>
        </p:txBody>
      </p:sp>
      <p:sp>
        <p:nvSpPr>
          <p:cNvPr id="19" name="Loop text 3"/>
          <p:cNvSpPr txBox="1"/>
          <p:nvPr/>
        </p:nvSpPr>
        <p:spPr>
          <a:xfrm>
            <a:off x="6611112" y="24231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Search-based planning picks the lowest-cost action sequence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8823960" y="2331720"/>
            <a:ext cx="36576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Loop card 4"/>
          <p:cNvSpPr/>
          <p:nvPr/>
        </p:nvSpPr>
        <p:spPr>
          <a:xfrm>
            <a:off x="9299448" y="1463040"/>
            <a:ext cx="2331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Loop 4 circle"/>
          <p:cNvSpPr/>
          <p:nvPr/>
        </p:nvSpPr>
        <p:spPr>
          <a:xfrm>
            <a:off x="9528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Loop 4 icon" descr="Loo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1783080"/>
            <a:ext cx="274320" cy="274320"/>
          </a:xfrm>
          <a:prstGeom prst="rect">
            <a:avLst/>
          </a:prstGeom>
        </p:spPr>
      </p:pic>
      <p:sp>
        <p:nvSpPr>
          <p:cNvPr id="24" name="Loop title 4"/>
          <p:cNvSpPr txBox="1"/>
          <p:nvPr/>
        </p:nvSpPr>
        <p:spPr>
          <a:xfrm>
            <a:off x="10213848" y="16459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Act</a:t>
            </a:r>
            <a:endParaRPr lang="en-US" sz="1800" dirty="0"/>
          </a:p>
        </p:txBody>
      </p:sp>
      <p:sp>
        <p:nvSpPr>
          <p:cNvPr id="25" name="Loop text 4"/>
          <p:cNvSpPr txBox="1"/>
          <p:nvPr/>
        </p:nvSpPr>
        <p:spPr>
          <a:xfrm>
            <a:off x="9528048" y="24231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approved actions, then checks the results</a:t>
            </a:r>
            <a:endParaRPr lang="en-US" sz="1400" dirty="0"/>
          </a:p>
        </p:txBody>
      </p:sp>
      <p:sp>
        <p:nvSpPr>
          <p:cNvPr id="26" name="Feedback arrow"/>
          <p:cNvSpPr/>
          <p:nvPr/>
        </p:nvSpPr>
        <p:spPr>
          <a:xfrm>
            <a:off x="548640" y="3749040"/>
            <a:ext cx="11091672" cy="457200"/>
          </a:xfrm>
          <a:prstGeom prst="leftArrow">
            <a:avLst/>
          </a:prstGeom>
          <a:solidFill>
            <a:schemeClr val="accent4"/>
          </a:solidFill>
          <a:ln/>
        </p:spPr>
      </p:sp>
      <p:sp>
        <p:nvSpPr>
          <p:cNvPr id="27" name="Feedback text"/>
          <p:cNvSpPr txBox="1"/>
          <p:nvPr/>
        </p:nvSpPr>
        <p:spPr>
          <a:xfrm>
            <a:off x="1280160" y="3749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Feedback: outcomes return to Observe and improve the next cycle</a:t>
            </a:r>
            <a:endParaRPr lang="en-US" sz="1400" dirty="0"/>
          </a:p>
        </p:txBody>
      </p:sp>
      <p:sp>
        <p:nvSpPr>
          <p:cNvPr id="28" name="Guard card 1"/>
          <p:cNvSpPr/>
          <p:nvPr/>
        </p:nvSpPr>
        <p:spPr>
          <a:xfrm>
            <a:off x="548640" y="443484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9" name="Guard 1 circle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Guard 1 icon" descr="Guard 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686300"/>
            <a:ext cx="228600" cy="228600"/>
          </a:xfrm>
          <a:prstGeom prst="rect">
            <a:avLst/>
          </a:prstGeom>
        </p:spPr>
      </p:pic>
      <p:sp>
        <p:nvSpPr>
          <p:cNvPr id="31" name="Guard title 1"/>
          <p:cNvSpPr txBox="1"/>
          <p:nvPr/>
        </p:nvSpPr>
        <p:spPr>
          <a:xfrm>
            <a:off x="132588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Rule-based safety constraints</a:t>
            </a:r>
            <a:endParaRPr lang="en-US" sz="1600" dirty="0"/>
          </a:p>
        </p:txBody>
      </p:sp>
      <p:sp>
        <p:nvSpPr>
          <p:cNvPr id="32" name="Guard text 1"/>
          <p:cNvSpPr txBox="1"/>
          <p:nvPr/>
        </p:nvSpPr>
        <p:spPr>
          <a:xfrm>
            <a:off x="731520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Hard limits the agent can never override, such as emission caps and equipment ratings</a:t>
            </a:r>
            <a:endParaRPr lang="en-US" sz="1400" dirty="0"/>
          </a:p>
        </p:txBody>
      </p:sp>
      <p:sp>
        <p:nvSpPr>
          <p:cNvPr id="33" name="Guard card 2"/>
          <p:cNvSpPr/>
          <p:nvPr/>
        </p:nvSpPr>
        <p:spPr>
          <a:xfrm>
            <a:off x="4311396" y="443484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34" name="Guard 2 circle"/>
          <p:cNvSpPr/>
          <p:nvPr/>
        </p:nvSpPr>
        <p:spPr>
          <a:xfrm>
            <a:off x="4494276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Guard 2 icon" descr="Guard 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4686300"/>
            <a:ext cx="228600" cy="228600"/>
          </a:xfrm>
          <a:prstGeom prst="rect">
            <a:avLst/>
          </a:prstGeom>
        </p:spPr>
      </p:pic>
      <p:sp>
        <p:nvSpPr>
          <p:cNvPr id="36" name="Guard title 2"/>
          <p:cNvSpPr txBox="1"/>
          <p:nvPr/>
        </p:nvSpPr>
        <p:spPr>
          <a:xfrm>
            <a:off x="5088636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Human-in-the-loop approval</a:t>
            </a:r>
            <a:endParaRPr lang="en-US" sz="1600" dirty="0"/>
          </a:p>
        </p:txBody>
      </p:sp>
      <p:sp>
        <p:nvSpPr>
          <p:cNvPr id="37" name="Guard text 2"/>
          <p:cNvSpPr txBox="1"/>
          <p:nvPr/>
        </p:nvSpPr>
        <p:spPr>
          <a:xfrm>
            <a:off x="4494276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Engineers review and approve high-impact actions before they run</a:t>
            </a:r>
            <a:endParaRPr lang="en-US" sz="1400" dirty="0"/>
          </a:p>
        </p:txBody>
      </p:sp>
      <p:sp>
        <p:nvSpPr>
          <p:cNvPr id="38" name="Guard card 3"/>
          <p:cNvSpPr/>
          <p:nvPr/>
        </p:nvSpPr>
        <p:spPr>
          <a:xfrm>
            <a:off x="8074152" y="443484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39" name="Guard 3 circle"/>
          <p:cNvSpPr/>
          <p:nvPr/>
        </p:nvSpPr>
        <p:spPr>
          <a:xfrm>
            <a:off x="8257032" y="4572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Guard 3 icon" descr="Guard 3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332" y="4686300"/>
            <a:ext cx="228600" cy="228600"/>
          </a:xfrm>
          <a:prstGeom prst="rect">
            <a:avLst/>
          </a:prstGeom>
        </p:spPr>
      </p:pic>
      <p:sp>
        <p:nvSpPr>
          <p:cNvPr id="41" name="Guard title 3"/>
          <p:cNvSpPr txBox="1"/>
          <p:nvPr/>
        </p:nvSpPr>
        <p:spPr>
          <a:xfrm>
            <a:off x="8851392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Automated actions and feedback</a:t>
            </a:r>
            <a:endParaRPr lang="en-US" sz="1600" dirty="0"/>
          </a:p>
        </p:txBody>
      </p:sp>
      <p:sp>
        <p:nvSpPr>
          <p:cNvPr id="42" name="Guard text 3"/>
          <p:cNvSpPr txBox="1"/>
          <p:nvPr/>
        </p:nvSpPr>
        <p:spPr>
          <a:xfrm>
            <a:off x="8257032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Low-risk actions run automatically; every result is logged to retrain the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Implementation, KPIs &amp; Expected Impact</a:t>
            </a:r>
            <a:endParaRPr lang="en-US" sz="3200" dirty="0"/>
          </a:p>
        </p:txBody>
      </p:sp>
      <p:sp>
        <p:nvSpPr>
          <p:cNvPr id="3" name="Phase card 1"/>
          <p:cNvSpPr/>
          <p:nvPr/>
        </p:nvSpPr>
        <p:spPr>
          <a:xfrm>
            <a:off x="548640" y="146304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Phase badge 1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hase number 1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hase title 1"/>
          <p:cNvSpPr txBox="1"/>
          <p:nvPr/>
        </p:nvSpPr>
        <p:spPr>
          <a:xfrm>
            <a:off x="141732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</a:t>
            </a:r>
            <a:endParaRPr lang="en-US" sz="1600" dirty="0"/>
          </a:p>
        </p:txBody>
      </p:sp>
      <p:sp>
        <p:nvSpPr>
          <p:cNvPr id="7" name="Phase text 1"/>
          <p:cNvSpPr txBox="1"/>
          <p:nvPr/>
        </p:nvSpPr>
        <p:spPr>
          <a:xfrm>
            <a:off x="141732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plant or unit: set a baseline and validate the models</a:t>
            </a:r>
            <a:endParaRPr lang="en-US" sz="1400" dirty="0"/>
          </a:p>
        </p:txBody>
      </p:sp>
      <p:sp>
        <p:nvSpPr>
          <p:cNvPr id="8" name="Phase card 2"/>
          <p:cNvSpPr/>
          <p:nvPr/>
        </p:nvSpPr>
        <p:spPr>
          <a:xfrm>
            <a:off x="4311396" y="146304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Phase badge 2"/>
          <p:cNvSpPr/>
          <p:nvPr/>
        </p:nvSpPr>
        <p:spPr>
          <a:xfrm>
            <a:off x="4494276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hase number 2"/>
          <p:cNvSpPr txBox="1"/>
          <p:nvPr/>
        </p:nvSpPr>
        <p:spPr>
          <a:xfrm>
            <a:off x="449427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Phase title 2"/>
          <p:cNvSpPr txBox="1"/>
          <p:nvPr/>
        </p:nvSpPr>
        <p:spPr>
          <a:xfrm>
            <a:off x="5180076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Scale</a:t>
            </a:r>
            <a:endParaRPr lang="en-US" sz="1600" dirty="0"/>
          </a:p>
        </p:txBody>
      </p:sp>
      <p:sp>
        <p:nvSpPr>
          <p:cNvPr id="12" name="Phase text 2"/>
          <p:cNvSpPr txBox="1"/>
          <p:nvPr/>
        </p:nvSpPr>
        <p:spPr>
          <a:xfrm>
            <a:off x="5180076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Extend to more sites and connect every data source</a:t>
            </a:r>
            <a:endParaRPr lang="en-US" sz="1400" dirty="0"/>
          </a:p>
        </p:txBody>
      </p:sp>
      <p:sp>
        <p:nvSpPr>
          <p:cNvPr id="13" name="Phase card 3"/>
          <p:cNvSpPr/>
          <p:nvPr/>
        </p:nvSpPr>
        <p:spPr>
          <a:xfrm>
            <a:off x="8074152" y="1463040"/>
            <a:ext cx="35661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4" name="Phase badge 3"/>
          <p:cNvSpPr/>
          <p:nvPr/>
        </p:nvSpPr>
        <p:spPr>
          <a:xfrm>
            <a:off x="8257032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hase number 3"/>
          <p:cNvSpPr txBox="1"/>
          <p:nvPr/>
        </p:nvSpPr>
        <p:spPr>
          <a:xfrm>
            <a:off x="825703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Phase title 3"/>
          <p:cNvSpPr txBox="1"/>
          <p:nvPr/>
        </p:nvSpPr>
        <p:spPr>
          <a:xfrm>
            <a:off x="8942832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Embed</a:t>
            </a:r>
            <a:endParaRPr lang="en-US" sz="1600" dirty="0"/>
          </a:p>
        </p:txBody>
      </p:sp>
      <p:sp>
        <p:nvSpPr>
          <p:cNvPr id="17" name="Phase text 3"/>
          <p:cNvSpPr txBox="1"/>
          <p:nvPr/>
        </p:nvSpPr>
        <p:spPr>
          <a:xfrm>
            <a:off x="8942832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Enterprise-wide rollout with continuous model retraining</a:t>
            </a:r>
            <a:endParaRPr lang="en-US" sz="1400" dirty="0"/>
          </a:p>
        </p:txBody>
      </p:sp>
      <p:sp>
        <p:nvSpPr>
          <p:cNvPr id="18" name="KPI card 1"/>
          <p:cNvSpPr/>
          <p:nvPr/>
        </p:nvSpPr>
        <p:spPr>
          <a:xfrm>
            <a:off x="548640" y="288036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9" name="KPI 1 circle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KPI 1 icon" descr="KPI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3131820"/>
            <a:ext cx="228600" cy="228600"/>
          </a:xfrm>
          <a:prstGeom prst="rect">
            <a:avLst/>
          </a:prstGeom>
        </p:spPr>
      </p:pic>
      <p:sp>
        <p:nvSpPr>
          <p:cNvPr id="21" name="KPI title 1"/>
          <p:cNvSpPr txBox="1"/>
          <p:nvPr/>
        </p:nvSpPr>
        <p:spPr>
          <a:xfrm>
            <a:off x="13258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Energy efficiency</a:t>
            </a:r>
            <a:endParaRPr lang="en-US" sz="1600" dirty="0"/>
          </a:p>
        </p:txBody>
      </p:sp>
      <p:sp>
        <p:nvSpPr>
          <p:cNvPr id="22" name="KPI list 1"/>
          <p:cNvSpPr txBox="1"/>
          <p:nvPr/>
        </p:nvSpPr>
        <p:spPr>
          <a:xfrm>
            <a:off x="731520" y="3611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kWh per unit of output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 demand and energy cost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 of renewable energy</a:t>
            </a:r>
            <a:endParaRPr lang="en-US" sz="1400" dirty="0"/>
          </a:p>
        </p:txBody>
      </p:sp>
      <p:sp>
        <p:nvSpPr>
          <p:cNvPr id="23" name="KPI card 2"/>
          <p:cNvSpPr/>
          <p:nvPr/>
        </p:nvSpPr>
        <p:spPr>
          <a:xfrm>
            <a:off x="4311396" y="288036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4" name="KPI 2 circle"/>
          <p:cNvSpPr/>
          <p:nvPr/>
        </p:nvSpPr>
        <p:spPr>
          <a:xfrm>
            <a:off x="4494276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KPI 2 icon" descr="KPI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3131820"/>
            <a:ext cx="228600" cy="228600"/>
          </a:xfrm>
          <a:prstGeom prst="rect">
            <a:avLst/>
          </a:prstGeom>
        </p:spPr>
      </p:pic>
      <p:sp>
        <p:nvSpPr>
          <p:cNvPr id="26" name="KPI title 2"/>
          <p:cNvSpPr txBox="1"/>
          <p:nvPr/>
        </p:nvSpPr>
        <p:spPr>
          <a:xfrm>
            <a:off x="5088636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Carbon emissions</a:t>
            </a:r>
            <a:endParaRPr lang="en-US" sz="1600" dirty="0"/>
          </a:p>
        </p:txBody>
      </p:sp>
      <p:sp>
        <p:nvSpPr>
          <p:cNvPr id="27" name="KPI list 2"/>
          <p:cNvSpPr txBox="1"/>
          <p:nvPr/>
        </p:nvSpPr>
        <p:spPr>
          <a:xfrm>
            <a:off x="4494276" y="3611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emissions (tCO2e)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Emission intensity per unit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Year-on-year reduction</a:t>
            </a:r>
            <a:endParaRPr lang="en-US" sz="1400" dirty="0"/>
          </a:p>
        </p:txBody>
      </p:sp>
      <p:sp>
        <p:nvSpPr>
          <p:cNvPr id="28" name="KPI card 3"/>
          <p:cNvSpPr/>
          <p:nvPr/>
        </p:nvSpPr>
        <p:spPr>
          <a:xfrm>
            <a:off x="8074152" y="288036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9" name="KPI 3 circle"/>
          <p:cNvSpPr/>
          <p:nvPr/>
        </p:nvSpPr>
        <p:spPr>
          <a:xfrm>
            <a:off x="8257032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KPI 3 icon" descr="KPI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3131820"/>
            <a:ext cx="228600" cy="228600"/>
          </a:xfrm>
          <a:prstGeom prst="rect">
            <a:avLst/>
          </a:prstGeom>
        </p:spPr>
      </p:pic>
      <p:sp>
        <p:nvSpPr>
          <p:cNvPr id="31" name="KPI title 3"/>
          <p:cNvSpPr txBox="1"/>
          <p:nvPr/>
        </p:nvSpPr>
        <p:spPr>
          <a:xfrm>
            <a:off x="8851392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Waste and recycling</a:t>
            </a:r>
            <a:endParaRPr lang="en-US" sz="1600" dirty="0"/>
          </a:p>
        </p:txBody>
      </p:sp>
      <p:sp>
        <p:nvSpPr>
          <p:cNvPr id="32" name="KPI list 3"/>
          <p:cNvSpPr txBox="1"/>
          <p:nvPr/>
        </p:nvSpPr>
        <p:spPr>
          <a:xfrm>
            <a:off x="8257032" y="3611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Waste generated per unit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Recycling and recovery rate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Landfill diversion rate</a:t>
            </a:r>
            <a:endParaRPr lang="en-US" sz="1400" dirty="0"/>
          </a:p>
        </p:txBody>
      </p:sp>
      <p:sp>
        <p:nvSpPr>
          <p:cNvPr id="33" name="Bottom card 1"/>
          <p:cNvSpPr/>
          <p:nvPr/>
        </p:nvSpPr>
        <p:spPr>
          <a:xfrm>
            <a:off x="548640" y="475488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4" name="Bottom title 1"/>
          <p:cNvSpPr txBox="1"/>
          <p:nvPr/>
        </p:nvSpPr>
        <p:spPr>
          <a:xfrm>
            <a:off x="777240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model evaluation</a:t>
            </a:r>
            <a:endParaRPr lang="en-US" sz="1600" dirty="0"/>
          </a:p>
        </p:txBody>
      </p:sp>
      <p:sp>
        <p:nvSpPr>
          <p:cNvPr id="35" name="Bottom text 1"/>
          <p:cNvSpPr txBox="1"/>
          <p:nvPr/>
        </p:nvSpPr>
        <p:spPr>
          <a:xfrm>
            <a:off x="777240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error (MAPE), alert precision and recall, and drift checks</a:t>
            </a:r>
            <a:endParaRPr lang="en-US" sz="1400" dirty="0"/>
          </a:p>
        </p:txBody>
      </p:sp>
      <p:sp>
        <p:nvSpPr>
          <p:cNvPr id="36" name="Bottom card 2"/>
          <p:cNvSpPr/>
          <p:nvPr/>
        </p:nvSpPr>
        <p:spPr>
          <a:xfrm>
            <a:off x="4311396" y="475488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7" name="Bottom title 2"/>
          <p:cNvSpPr txBox="1"/>
          <p:nvPr/>
        </p:nvSpPr>
        <p:spPr>
          <a:xfrm>
            <a:off x="4539996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Governance and risk</a:t>
            </a:r>
            <a:endParaRPr lang="en-US" sz="1600" dirty="0"/>
          </a:p>
        </p:txBody>
      </p:sp>
      <p:sp>
        <p:nvSpPr>
          <p:cNvPr id="38" name="Bottom text 2"/>
          <p:cNvSpPr txBox="1"/>
          <p:nvPr/>
        </p:nvSpPr>
        <p:spPr>
          <a:xfrm>
            <a:off x="4539996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privacy, bias checks, audit trail and clear human ownership</a:t>
            </a:r>
            <a:endParaRPr lang="en-US" sz="1400" dirty="0"/>
          </a:p>
        </p:txBody>
      </p:sp>
      <p:sp>
        <p:nvSpPr>
          <p:cNvPr id="39" name="Bottom card 3"/>
          <p:cNvSpPr/>
          <p:nvPr/>
        </p:nvSpPr>
        <p:spPr>
          <a:xfrm>
            <a:off x="8074152" y="475488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40" name="Bottom title 3"/>
          <p:cNvSpPr txBox="1"/>
          <p:nvPr/>
        </p:nvSpPr>
        <p:spPr>
          <a:xfrm>
            <a:off x="8302752" y="4919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Expected benefits</a:t>
            </a:r>
            <a:endParaRPr lang="en-US" sz="1600" dirty="0"/>
          </a:p>
        </p:txBody>
      </p:sp>
      <p:sp>
        <p:nvSpPr>
          <p:cNvPr id="41" name="Bottom text 3"/>
          <p:cNvSpPr txBox="1"/>
          <p:nvPr/>
        </p:nvSpPr>
        <p:spPr>
          <a:xfrm>
            <a:off x="8302752" y="5349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Lower energy cost and emissions, less waste, audit-ready ESG reporting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Initiatives">
  <a:themeElements>
    <a:clrScheme name="Green Initiatives">
      <a:dk1>
        <a:srgbClr val="10241C"/>
      </a:dk1>
      <a:lt1>
        <a:srgbClr val="F9F9F2"/>
      </a:lt1>
      <a:dk2>
        <a:srgbClr val="14552D"/>
      </a:dk2>
      <a:lt2>
        <a:srgbClr val="EAF0E4"/>
      </a:lt2>
      <a:accent1>
        <a:srgbClr val="2E7D37"/>
      </a:accent1>
      <a:accent2>
        <a:srgbClr val="F2B134"/>
      </a:accent2>
      <a:accent3>
        <a:srgbClr val="2F7FA8"/>
      </a:accent3>
      <a:accent4>
        <a:srgbClr val="7FB77E"/>
      </a:accent4>
      <a:accent5>
        <a:srgbClr val="C8553D"/>
      </a:accent5>
      <a:accent6>
        <a:srgbClr val="5C6B66"/>
      </a:accent6>
      <a:hlink>
        <a:srgbClr val="2E7D37"/>
      </a:hlink>
      <a:folHlink>
        <a:srgbClr val="5C6B66"/>
      </a:folHlink>
    </a:clrScheme>
    <a:fontScheme name="Green Initiativ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Sustainability &amp; Green Initiatives - Group 10</dc:title>
  <dc:subject>PptxGenJS Presentation</dc:subject>
  <dc:creator>Group 10</dc:creator>
  <cp:lastModifiedBy>Group 10</cp:lastModifiedBy>
  <cp:revision>1</cp:revision>
  <dcterms:created xsi:type="dcterms:W3CDTF">2026-10-18T08:04:13Z</dcterms:created>
  <dcterms:modified xsi:type="dcterms:W3CDTF">2026-10-18T08:04:13Z</dcterms:modified>
</cp:coreProperties>
</file>